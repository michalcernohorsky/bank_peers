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 · Executive summary" id="{51c4cc73-6ba0-47e1-9261-4baab6e7d4f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B · Detail" id="{8c326664-2ef0-7047-dec7-bf8512bd91af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Interchange (%)</c:v>
                </c:pt>
              </c:strCache>
            </c:strRef>
          </c:tx>
          <c:spPr>
            <a:solidFill>
              <a:srgbClr val="8A8A8A"/>
            </a:solidFill>
            <a:effectLst/>
          </c:spPr>
          <c:invertIfNegative val="0"/>
          <c:dLbls>
            <c:numFmt formatCode="0.00&quot; 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6F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121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6B2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6B2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Spotřebitelská debetní (strop IFR)</c:v>
                  </c:pt>
                  <c:pt idx="1">
                    <c:v>Spotřebitelská kreditní (strop IFR)</c:v>
                  </c:pt>
                  <c:pt idx="2">
                    <c:v>Mastercard BusinessCard intra-EEA [STALE 01/2021]</c:v>
                  </c:pt>
                  <c:pt idx="3">
                    <c:v>Mastercard Corporate ČR [STALE 03/2022]</c:v>
                  </c:pt>
                  <c:pt idx="4">
                    <c:v>Visa USA commercial – spodní [FACT 04/2026]</c:v>
                  </c:pt>
                  <c:pt idx="5">
                    <c:v>Visa USA commercial – horní [FACT 04/2026]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0.3</c:v>
                </c:pt>
                <c:pt idx="2">
                  <c:v>1.65</c:v>
                </c:pt>
                <c:pt idx="3">
                  <c:v>2.1</c:v>
                </c:pt>
                <c:pt idx="4">
                  <c:v>1.75</c:v>
                </c:pt>
                <c:pt idx="5">
                  <c:v>2.95</c:v>
                </c:pt>
              </c:numCache>
            </c:numRef>
          </c:val>
        </c:ser>
        <c:dLbls>
          <c:numFmt formatCode="0.00&quot; 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Záznamů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 karetní odměny</c:v>
                  </c:pt>
                  <c:pt idx="1">
                    <c:v>D nabídky obchodníků</c:v>
                  </c:pt>
                  <c:pt idx="2">
                    <c:v>H nebankovní B2B</c:v>
                  </c:pt>
                  <c:pt idx="3">
                    <c:v>G rebaty korp. karet</c:v>
                  </c:pt>
                  <c:pt idx="4">
                    <c:v>F nefinanční benefity</c:v>
                  </c:pt>
                  <c:pt idx="5">
                    <c:v>C vztahový tier</c:v>
                  </c:pt>
                  <c:pt idx="6">
                    <c:v>B cashback na účtu</c:v>
                  </c:pt>
                  <c:pt idx="7">
                    <c:v>E cena 0 za aktivitu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24</c:v>
                </c:pt>
                <c:pt idx="2">
                  <c:v>14</c:v>
                </c:pt>
                <c:pt idx="3">
                  <c:v>9</c:v>
                </c:pt>
                <c:pt idx="4">
                  <c:v>7</c:v>
                </c:pt>
                <c:pt idx="5">
                  <c:v>6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Základní cashback / ekvivalent (%)</c:v>
                </c:pt>
              </c:strCache>
            </c:strRef>
          </c:tx>
          <c:spPr>
            <a:solidFill>
              <a:srgbClr val="9A6B2F"/>
            </a:solidFill>
            <a:effectLst/>
          </c:spPr>
          <c:invertIfNegative val="0"/>
          <c:dLbls>
            <c:numFmt formatCode="0.0#&quot; 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6B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6B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6B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6B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6F5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6F5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F6F5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6B2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Chase Ink Unlimited [FACT]</c:v>
                  </c:pt>
                  <c:pt idx="1">
                    <c:v>Capital One Spark Cash Plus [STALE]</c:v>
                  </c:pt>
                  <c:pt idx="2">
                    <c:v>Wells Fargo Signify [STALE]</c:v>
                  </c:pt>
                  <c:pt idx="3">
                    <c:v>Chase Ink Premier (ostatní) [STALE]</c:v>
                  </c:pt>
                  <c:pt idx="4">
                    <c:v>Commerzbank Premium (DE) [STALE]</c:v>
                  </c:pt>
                  <c:pt idx="5">
                    <c:v>bunq Free (NL) [STALE]</c:v>
                  </c:pt>
                  <c:pt idx="6">
                    <c:v>N26 Business Smart (DE) [STALE]</c:v>
                  </c:pt>
                  <c:pt idx="7">
                    <c:v>OCBC SGD útrata (SG) [STALE]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0.55</c:v>
                </c:pt>
                <c:pt idx="5">
                  <c:v>0.5</c:v>
                </c:pt>
                <c:pt idx="6">
                  <c:v>0.1</c:v>
                </c:pt>
                <c:pt idx="7">
                  <c:v>0.2</c:v>
                </c:pt>
              </c:numCache>
            </c:numRef>
          </c:val>
        </c:ser>
        <c:dLbls>
          <c:numFmt formatCode="0.0#&quot; 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100584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463040"/>
            <a:ext cx="10634472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840480"/>
            <a:ext cx="101772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5760720"/>
            <a:ext cx="1017727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0312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560320"/>
            <a:ext cx="101772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26287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VĚRNOSTNÍ PROGRAMY PRO PODNIKATELE A FIRMY · ČR · EVROPA · SVĚT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463040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Existují věrnostní programy i pro firemní svět – a co z toho plyne pro Českou spořitelnu?</a:t>
            </a:r>
            <a:endParaRPr lang="en-US" sz="4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384048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Část A: executive summary (A01–A08) · Část B: detail (B01–B22) · Navazuje na deep dive v2 (2. 10. 2026) a na BP3, BP4, BP5 a BB2</a:t>
            </a:r>
            <a:endParaRPr lang="en-US" sz="18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731520" y="576072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Praha, 8. října 2026 · 125 programů v databázi · 151 vyhledávání · každé číslo nese značku jistoty (FACT / EST / STALE / CLAIM / DATA GAP) · nabídka bank jen ze zdrojů 06/2026+, starší = STALE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A02 · ODPOVĚĎ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Ano, věrnostní programy existují i pro firmy – ale jen dole na velikostní škále. S velikostí firmy se mění v rebate, tier a pricing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Jedna odpověď pro tři segmenty. Vzorek: 125 záznamů ze 4 workstreamů (ČR, Evropa, svět, corporate).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DB 10_vernostni_programy_db.csv · Allica KPI, BofA FAQ 2026, VÚB štatút 1. 7. 2026, GSA SmartPay FY2025 · FACT / EST / STALE</a:t>
            </a:r>
            <a:endParaRPr lang="en-US" sz="900" dirty="0"/>
          </a:p>
        </p:txBody>
      </p:sp>
      <p:sp>
        <p:nvSpPr>
          <p:cNvPr id="6" name="card FOP / mikro – ANO"/>
          <p:cNvSpPr/>
          <p:nvPr/>
        </p:nvSpPr>
        <p:spPr>
          <a:xfrm>
            <a:off x="548640" y="2103120"/>
            <a:ext cx="3514344" cy="39319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FOP / mikro – ANO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70048"/>
            <a:ext cx="31485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Retailové mechaniky na podnikatelské kartě nebo účtu: cashback 0,1–1,5 % v EU, 1,5–2 % flat v USA, body, nabídky obchodníků v aplikaci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N26 Business 0,1 % / 0,5 % [STALE], bunq 0,5–1 % [STALE], Chase Ink Unlimited 1,5 %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 neobank roste cashback s placeným tarifem – financuje ho poplatek klienta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26 programů v Evropě a 27 ve světě otevřených podnikatelům</a:t>
            </a:r>
            <a:endParaRPr lang="en-US" sz="1150" dirty="0"/>
          </a:p>
        </p:txBody>
      </p:sp>
      <p:sp>
        <p:nvSpPr>
          <p:cNvPr id="9" name="card SME – ČÁSTEČNĚ"/>
          <p:cNvSpPr/>
          <p:nvPr/>
        </p:nvSpPr>
        <p:spPr>
          <a:xfrm>
            <a:off x="4337304" y="2103120"/>
            <a:ext cx="3514344" cy="39319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0184" y="224028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– ČÁSTEČNĚ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0184" y="2670048"/>
            <a:ext cx="31485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Cashback a body zůstávají, ale podmiňuje je vztah: zůstatek, úvěr, stáří firmy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Allica (UK): 1 % / 1,5 % jen pro firmy 12+ měsíců se zůstatkem 50 000 GBP+ nebo úvěrem [FACT, 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BofA Preferred Rewards for Business: tiery 20 / 50 / 100 tis. USD [FACT 2026]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VÚB (SK): Money back jen ke kreditní kartě s úvěrovým limitem, od 1. 7. 2026 [FACT]</a:t>
            </a:r>
            <a:endParaRPr lang="en-US" sz="1150" dirty="0"/>
          </a:p>
        </p:txBody>
      </p:sp>
      <p:sp>
        <p:nvSpPr>
          <p:cNvPr id="12" name="card CORPORATE – NE"/>
          <p:cNvSpPr/>
          <p:nvPr/>
        </p:nvSpPr>
        <p:spPr>
          <a:xfrm>
            <a:off x="8125968" y="2103120"/>
            <a:ext cx="3514344" cy="39319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8848" y="224028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– 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08848" y="2670048"/>
            <a:ext cx="31485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Bodový program pro velké korporace se v rešerši nenašel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Loajalitu nese smluvní rebate z firemních karet podle objemu a rychlosti úhrady, earnings credit na zůstatky, relationship pricing a RM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GSA SmartPay FY2025: 471 mil. USD refundů z útraty 39,4 mld. USD [FACT] = 1,20 % [EST]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Emirates Business Rewards míří výslovně na firmy bez korporátní cestovní smlouvy [STALE]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A03 · PĚT HLAVNÍCH ZJIŠTĚNÍ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ČR nemá žádný ucelený program pro podnikatele, podnikatelská karta nese až 10× vyšší interchange a kauzální důkaz o retenci chybí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L2–L5 rešerše 6. 10. 2026 · IFR 2015/751 čl. 1 odst. 3 písm. a) · Mastercard ČR intracountry 03/2022 · J.D. Power 12/2025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206240"/>
                <a:gridCol w="5120640"/>
                <a:gridCol w="139903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Zjištění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Číslo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Značka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Česká banka s uceleným programem pro podnikatele neexistuje; trh se v 2026 stahuje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 cashback jen KB a MONETA; mBank na pozvání; Air Bank ukončila k 30. 6.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STALE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Retailové programy podnikatelské karty vylučují a tlačí FOP k osobní kartě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SLSP Moneyback vylučuje podnikatelské debetní karty; ČS Moneyback „soukromá karta“; výjimka MONETA Odměny (FOP ano)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CLAIM / DATA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Ekonomika je silná: firemní karty nepodléhají stropům IFR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 Corporate ČR 2,10 % vs. strop 0,20 % = 10,5×; obchodníci 05/2026 žádají zastropování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STALE / 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Vrstva financovaná obchodníky je hotová a běží i v CEE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 Business Savings/Bonus: NatWest ~1 mil. karet, bunq 5 zemí, OTP HU, Intesa RS; dostupnost v ČR nejasná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STALE / DATA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Kauzální důkaz, že program zvyšuje retenci SME, chybí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J.D. Power: „rewards earning“ 6. ze 7 dimenzí (N = 3 728); McKinsey: důvody změny banky jsou digitál, servis, úvěr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ag FACT"/>
          <p:cNvSpPr txBox="1"/>
          <p:nvPr/>
        </p:nvSpPr>
        <p:spPr>
          <a:xfrm>
            <a:off x="548640" y="5989320"/>
            <a:ext cx="868680" cy="237744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FACT</a:t>
            </a:r>
            <a:endParaRPr lang="en-US" sz="800" dirty="0"/>
          </a:p>
        </p:txBody>
      </p:sp>
      <p:sp>
        <p:nvSpPr>
          <p:cNvPr id="7" name="tag EST"/>
          <p:cNvSpPr txBox="1"/>
          <p:nvPr/>
        </p:nvSpPr>
        <p:spPr>
          <a:xfrm>
            <a:off x="1508760" y="5989320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EST</a:t>
            </a:r>
            <a:endParaRPr lang="en-US" sz="800" dirty="0"/>
          </a:p>
        </p:txBody>
      </p:sp>
      <p:sp>
        <p:nvSpPr>
          <p:cNvPr id="8" name="tag STALE"/>
          <p:cNvSpPr txBox="1"/>
          <p:nvPr/>
        </p:nvSpPr>
        <p:spPr>
          <a:xfrm>
            <a:off x="2468880" y="5989320"/>
            <a:ext cx="868680" cy="237744"/>
          </a:xfrm>
          <a:prstGeom prst="rect">
            <a:avLst/>
          </a:prstGeom>
          <a:solidFill>
            <a:srgbClr val="F4F1EC"/>
          </a:solidFill>
          <a:ln w="9525">
            <a:solidFill>
              <a:srgbClr val="6B6B6B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STALE</a:t>
            </a:r>
            <a:endParaRPr lang="en-US" sz="800" dirty="0"/>
          </a:p>
        </p:txBody>
      </p:sp>
      <p:sp>
        <p:nvSpPr>
          <p:cNvPr id="9" name="tag CLAIM"/>
          <p:cNvSpPr txBox="1"/>
          <p:nvPr/>
        </p:nvSpPr>
        <p:spPr>
          <a:xfrm>
            <a:off x="3429000" y="5989320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6B6B6B"/>
                </a:solidFill>
              </a:rPr>
              <a:t>CLAIM</a:t>
            </a:r>
            <a:endParaRPr lang="en-US" sz="800" dirty="0"/>
          </a:p>
        </p:txBody>
      </p:sp>
      <p:sp>
        <p:nvSpPr>
          <p:cNvPr id="10" name="tag DATA GAP"/>
          <p:cNvSpPr txBox="1"/>
          <p:nvPr/>
        </p:nvSpPr>
        <p:spPr>
          <a:xfrm>
            <a:off x="4389120" y="5989320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5121B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121B"/>
                </a:solidFill>
              </a:rPr>
              <a:t>DATA GAP</a:t>
            </a:r>
            <a:endParaRPr lang="en-US" sz="8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A04 · ČESKÁ REPUBLIKA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Z 12 českých bank dává podnikatelům trvalou odměnu pět a žádná nemá tier; Česká spořitelna má jen slevy financované Visou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Inventura 12 bank + 8 nebankovních B2B programů (DB CZ-01 až CZ-37).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kb.cz, moneta.cz (podmínky Odměn 22. 6. 2025), mbank.cz (03/2026), e15.cz (Air Bank), csas.cz, makro.cz · FACT / STALE / DATA GAP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bank v ČR s tierovým nebo vztahovým programem pro podnikatele [FACT – nenalezeno u 12 bank]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66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typický cashback na podnikatelské kreditní kartě (KB do 31. 12. 2026, MONETA bez stropu) [FACT / STALE]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965960"/>
          <a:ext cx="77083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560320"/>
                <a:gridCol w="12161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pro podnikatele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program otevřený podnikatelům?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Česká spořitelna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 „Benefity pro firmy“ – slevy Visa Business (Bolt, EasyPark, foodora, wflow)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Odměny / Moneyback: podnikatelská karta nezmíněna; článek uvádí soukromou kartu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 vlastní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Kreditní karta Business 1 % zpět, garance do 31. 12.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„Klub věrnosti“ jen v článku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ČSOB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Pojištění k podnikatelským kartám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Svět odměn ukončen 12/2024; Kate Coins nejasné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Card 1 % bez stropu + kampaně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Odměny otevřený FOP vč. karet Business (PO 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nejširší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 zpět ukončeno k 30. 6.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„Odměny za placení“ nejasné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zrušeno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 zpět 3–12/2026, jen na pozvání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cílené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RB, UCB, Fio, Creditas, Revolut, Wise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Nenalezeno (Revolut cashback jen USA, Wise jen UK)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 a UCB programy jen retail / nejasné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A05 · EKONOMIKA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Podnikatelská karta nese 10,5× vyšší interchange než osobní debetní karta – proto se 1 % cashback vyplatí jen na ní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IFR 2015/751 vyjímá commercial karty ze stropů; definice zahrnuje i OSVČ s kartou účtovanou na podnikatelský účet [FACT].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legislation.gov.uk (IFR čl. 1 a 2), Mastercard ČR intracountry 1. 3. 2022 [STALE], Visa USA IRF 18. 4. 2026, EuroCommerce 22. 5. 2026 [CLAIM] · poměr = EST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1168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863840" y="20116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10,5×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46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Mastercard Corporate ČR 2,10 % / strop spotřebitelské debetní karty 0,20 % [EST; vstup STALE 03/2022]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02336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Na 10 000 Kč útraty: osobní debetní karta 20 Kč, podnikatelská karta 210 Kč interchange; po 1 % cashbacku (100 Kč) zbývá bance ~110 Kč [EST, před schémovými poplatky]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Převést výdaje FOP z osobní na podnikatelskou kartu má hodnotu samo o sobě – program, který FOP vylučuje, působí proti tomu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Riziko: obchodníci (EuroCommerce 22. 5. 2026) žádají vypuštění výjimky; „přeplatek“ 2025 ≥ 4 mld. EUR [CLAIM]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A06 · EVROPA A SVĚT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Čtyři přenositelné vzory: vztahový tier (BofA), cashback za vztah (Allica), firemní cashback u VÚB a schémová vrstva (Mastercard)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Přenositelnost do ČR 1–5. Detail v části B (B07–B13) a v 10_vernostni_programy_cases.md.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bankofamerica.com FAQ 2026, allica.bank KPI, vub.sk štatút 1. 7. 2026, slsp.sk zveřejnění 1. 7. 2025, natwestgroup.com 05/2024, mastercard.com 01/2025</a:t>
            </a:r>
            <a:endParaRPr lang="en-US" sz="900" dirty="0"/>
          </a:p>
        </p:txBody>
      </p:sp>
      <p:sp>
        <p:nvSpPr>
          <p:cNvPr id="6" name="card BofA Preferred Rewards for Business · 5/5"/>
          <p:cNvSpPr/>
          <p:nvPr/>
        </p:nvSpPr>
        <p:spPr>
          <a:xfrm>
            <a:off x="548640" y="2057400"/>
            <a:ext cx="2567178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2201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BofA Preferred Rewards for Business · 5/5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53512"/>
            <a:ext cx="220141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Tiery podle 3měsíčního zůstatku: 20 / 50 / 100 tis. USD [FACT 2026]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+25 / 50 / 75 % ke kartovým odměnám, odpuštění poplatků, −0,25 p.b. z úvěru [STALE]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Zachován i po nahrazení retailového programu (27. 5. 2026)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Financuje vkladová marže</a:t>
            </a:r>
            <a:endParaRPr lang="en-US" sz="1150" dirty="0"/>
          </a:p>
        </p:txBody>
      </p:sp>
      <p:sp>
        <p:nvSpPr>
          <p:cNvPr id="9" name="card Allica Business Rewards (UK) · 4/5"/>
          <p:cNvSpPr/>
          <p:nvPr/>
        </p:nvSpPr>
        <p:spPr>
          <a:xfrm>
            <a:off x="3390138" y="2057400"/>
            <a:ext cx="2567178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3018" y="2194560"/>
            <a:ext cx="2201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Allica Business Rewards (UK) · 4/5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73018" y="2953512"/>
            <a:ext cx="220141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1 % / 1,5 % cashback z karty jen pro firmy 12+ měsíců se zůstatkem 50 000 GBP+ nebo úvěrem [FACT, 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Klienti účtu 6 000+ → 14 000+ za FY25 [CLAIM]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Práh 1,5 %: 10 000 GBP (KPI) vs. 4 000 GBP (tisk) – 15 000 GBP nepotvrzeno</a:t>
            </a:r>
            <a:endParaRPr lang="en-US" sz="1150" dirty="0"/>
          </a:p>
        </p:txBody>
      </p:sp>
      <p:sp>
        <p:nvSpPr>
          <p:cNvPr id="12" name="card VÚB vs. SLSP (SK) · 5/5"/>
          <p:cNvSpPr/>
          <p:nvPr/>
        </p:nvSpPr>
        <p:spPr>
          <a:xfrm>
            <a:off x="6231636" y="2057400"/>
            <a:ext cx="2567178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4516" y="2194560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VÚB vs. SLSP (SK) · 5/5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2624328"/>
            <a:ext cx="220141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VÚB od 1. 7. 2026: Money back pro firemní kreditku Mastercard Business World, FO i PO s úvěrovým limitem [FACT]; ruší pojištění a lounge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SLSP Moneyback podnikatelské debetní karty vylučuje [FACT 07/2025]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Konkurent Erste cílí přesně na segment, který Erste vynechává</a:t>
            </a:r>
            <a:endParaRPr lang="en-US" sz="1150" dirty="0"/>
          </a:p>
        </p:txBody>
      </p:sp>
      <p:sp>
        <p:nvSpPr>
          <p:cNvPr id="15" name="card Mastercard Business Savings / Bonus · 5/5"/>
          <p:cNvSpPr/>
          <p:nvPr/>
        </p:nvSpPr>
        <p:spPr>
          <a:xfrm>
            <a:off x="9073134" y="2057400"/>
            <a:ext cx="2567178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6014" y="2194560"/>
            <a:ext cx="2201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Mastercard Business Savings / Bonus · 5/5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256014" y="2953512"/>
            <a:ext cx="220141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Automatický cashback od obchodníků, bez registrace; NatWest ~1 mil. debetních karet, 1 000+ nabídek [FACT, STALE 05/2024]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bunq v NL/DE/FR/ES/IT od 15. 1. 2025 [FACT]; OTP HU, Intesa RS [STALE]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Rozpočet banky ≈ 0; dostupnost v ČR [DATA GAP]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A07 · IMPLIKACE PRO ČS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Pět variant – doporučená architektura je „0 Kč základ → placený tier → vztahový tier“ s cashbackem jen uvnitř tieru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Vazba na BP3 (daňový pot + tier), BP4 (first account), BP5 (segmentace FOP/PO) a BB2 (0 Kč + pot + tier). Všechny odhady EST se vzorcem v reportu kap. 9.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Report kap. 9; čísla z v2 (BB2 40–85 mil. Kč/rok, tier 149–299 Kč/měs.) převzata beze změny · EST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291840"/>
                <a:gridCol w="1188720"/>
                <a:gridCol w="1097280"/>
                <a:gridCol w="3291840"/>
                <a:gridCol w="1810512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Hrubá ekonomika [EST]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Doporučení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Schémová vrstva nabídek pro podnikatelské karty (Visa benefity + Mastercard Business Bonus / Easy Savings pro CZ)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(+F)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BP4, BB2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Rozpočet odměn ≈ 0 (platí obchodníci); náklad = integrace do George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quick win 0–6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„George Business Preferred“: vztahový tier podle zůstatku + úvěru (BofA / Allica)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→ booster A, B, 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BP5, BB2, BB1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Odpuštěné poplatky + sleva z úvěru (0,25 p.b. z 1 mil. Kč = 2 500 Kč/rok) vs. vkladová marže; prahy z interních dat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jádro, 6–18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 na podnikatelské kartě podmíněný vztahem (Allica / VÚB)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s branou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BB2, BP3, BP4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tis. klientů × 30 tis. Kč/měs. × 12 × 1 % = 72 mil. Kč nákladu vs. ≈ 151 mil. Kč interchange (2,10 % STALE)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jen jako booster uvnitř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Placený tier s benefity místo bodů (daňový pot, SaaS, pojištění, vyšší cashback)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+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BP3, BB2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Výnos BB2 40–85 mil. Kč/rok; cashback +0,5 p.b. = 20–42 mil. Kč nákladu krytého interchange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sloučit s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Partnerství s nebankovním B2B programem (letecký, palivový, velkoobchod)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co-brand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 bodů nese banka; ekonomika DATA GAP; riziko disintermediace (SAS)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MONITOROVAT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A08 · ROZHODNUTÍ PRO CEO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Tři doporučení a jedno rozhodnutí: zda podnikatelský tier ponese program BB2/BP5 jako jednu cenovou architekturu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Shrnutí pro CEO, report kap. 11</a:t>
            </a:r>
            <a:endParaRPr lang="en-US" sz="900" dirty="0"/>
          </a:p>
        </p:txBody>
      </p:sp>
      <p:sp>
        <p:nvSpPr>
          <p:cNvPr id="5" name="pull quote"/>
          <p:cNvSpPr/>
          <p:nvPr/>
        </p:nvSpPr>
        <p:spPr>
          <a:xfrm>
            <a:off x="548640" y="1600200"/>
            <a:ext cx="11091672" cy="11887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„Má ČS odměňovat podnikatele za vztah – zůstatek, úvěr, primární účet – místo aby je retailový Moneyback posílal k osobní kartě?“</a:t>
            </a:r>
            <a:endParaRPr lang="en-US" sz="2000" dirty="0"/>
          </a:p>
        </p:txBody>
      </p:sp>
      <p:sp>
        <p:nvSpPr>
          <p:cNvPr id="7" name="card 1 · Hned (0–6 m)"/>
          <p:cNvSpPr/>
          <p:nvPr/>
        </p:nvSpPr>
        <p:spPr>
          <a:xfrm>
            <a:off x="548640" y="3063240"/>
            <a:ext cx="3514344" cy="22860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20040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Hned (0–6 m)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30168"/>
            <a:ext cx="3148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Otevřít podnikatelským kartám nabídky obchodníků (Visa / Mastercard) a ověřit zapojení do Moneybacku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Rozpočet odměn ≈ 0 – platí obchodníci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Ověřit u Mastercardu dostupnost Business Bonus pro CZ</a:t>
            </a:r>
            <a:endParaRPr lang="en-US" sz="1150" dirty="0"/>
          </a:p>
        </p:txBody>
      </p:sp>
      <p:sp>
        <p:nvSpPr>
          <p:cNvPr id="10" name="card 2 · Do 18 měsíců"/>
          <p:cNvSpPr/>
          <p:nvPr/>
        </p:nvSpPr>
        <p:spPr>
          <a:xfrm>
            <a:off x="4337304" y="3063240"/>
            <a:ext cx="3514344" cy="22860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0184" y="320040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Do 18 měsíců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0184" y="3630168"/>
            <a:ext cx="3148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Vztahový tier George Business podle zůstatku a úvěru (BofA model): odpuštění poplatků, sleva z úvěru, cashback jen v tieru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Spojit s placeným tierem BB2 (daňový pot + SaaS)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Kalibrovat prahy na interních datech (Q7 v2)</a:t>
            </a:r>
            <a:endParaRPr lang="en-US" sz="1150" dirty="0"/>
          </a:p>
        </p:txBody>
      </p:sp>
      <p:sp>
        <p:nvSpPr>
          <p:cNvPr id="13" name="card 3 · Nedělat"/>
          <p:cNvSpPr/>
          <p:nvPr/>
        </p:nvSpPr>
        <p:spPr>
          <a:xfrm>
            <a:off x="8125968" y="3063240"/>
            <a:ext cx="3514344" cy="22860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8848" y="320040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Nedělat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08848" y="3630168"/>
            <a:ext cx="31485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Plošný cashback bez vztahové brány (Air Bank ho zrušila k 30. 6. 2026)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Bodový program pro korporace – místo něj transparentní relationship pricing (zůstatek kompenzuje poplatky)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Program postavený jen na commercial interchange (regulační riziko 05/2026)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 rozhodnout: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(1) zda small business tier bude součástí architektury „0 Kč základ → placený tier → vztahový tier“ (BB2 + BP5); (2) zda ČS přijme regulační riziko interchange u firemních karet. Vstupy: interní data o zůstatcích a útratě FOP na osobních vs. podnikatelských kartách.</a:t>
            </a:r>
            <a:endParaRPr lang="en-US" sz="1200" dirty="0"/>
          </a:p>
        </p:txBody>
      </p:sp>
      <p:sp>
        <p:nvSpPr>
          <p:cNvPr id="17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03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ČÁST B · DETAIL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560320"/>
            <a:ext cx="10177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Metodika, hypotézy, inventury, ekonomika, corporate, varianty pro ČS a QA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262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B01 metodika a taxonomie · B02 hypotézy · B03–B05 ČR · B06–B10 Evropa · B11–B13 svět · B14–B16 ekonomika · B17 corporate · B18 domácí případy · B19–B20 varianty · B21 otázky · B22 QA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B01 · METODIKA A TAXONOMIE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Osm mechanik A–H pokrývá praxi beze zbytku; v databázi převažují karetní odměny (42) a nabídky obchodníků (24)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Věrnostní program = opakovaná mechanika za setrvání, aktivitu nebo rozsah vztahu. Jednorázové akviziční bonusy (13 záznamů) se evidují zvlášť a nepočítají se.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DB 10_vernostni_programy_db.csv (125 záznamů, hlavní mechanika bez AKV a DATA GAP) · přehledové zdroje L1: Mastercard Europe 10/2024, Visa, BofA, McKinsey, A&amp;M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1168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92240" y="20116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Pravidla: FACT = ověřeno ve výtahu zdroje s URL a datem (plný text stránek byl blokovaný); EST se vzorcem; STALE = zdroj starší než 06/2026 nebo bez data; CLAIM = tvrzení firmy; DATA GAP = nenalezeno + kde hledat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Cut-off 06/2026 pro popis nabídky; měny v originále (kurz ČNB neověřen)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Upřesnění taxonomie: atribut „booster C → A/B“ (tier sám nic nevyplácí, jen násobí); atribut „provozovatel ≠ vydavatel“ (schémové programy); podtypy G1 objem / G2 rychlost úhrady / G3 large ticket; F1 služby vs. F2 status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Kategorie I (odměny v acquiringu) jen podmíněně – doložený příklad se nenašel [DATA GAP]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B02 · HYPOTÉZY H1–H7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Dvě hypotézy platí plně (H2, H3), čtyři částečně, jedna převážně – nejvíc se musela upravit H4 o rozdílu EU vs. USA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Report kap. 3; důkazy v částech B03–B17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1005840"/>
                <a:gridCol w="65196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Hypotéza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Klíčový důkaz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FOP a mikro fungují programy jako v retailu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Částečně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ano (cashback, body, nabídky obchodníků); u neobank cashback roste s tarifem; účinnost nedoložena [DATA GAP]; Air Bank program ukončila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velikostí mizí body a nastupuje vztahový pricing, rebaty, balíčky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6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Potvrzeno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Allica, VÚB (cashback za vztah); BofA tiery 20/50/100 tis. USD; corporate rebaty v bps (GSA 1,20 %), ECR, relationship pricing; výhrada Brex/Ramp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velkých korporací klasický program téměř není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6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Potvrzeno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Žádný bodový program nenalezen; rebate, ECR, pricing, RM; Emirates cílí na firmy bez korporátní smlouvy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= vyšší interchange; IFR commercial karty nekryje; proto USA velkorysejší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Částečně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Výjimka IFR [FACT]; EU commercial 1,3–2,4 % [CLAIM] ≈ USA 1,75–2,95 % [FACT] – rozdíl dělá hlavně neregulovaný spotřebitelský kredit v USA (Reg II jen debet)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Vrstva financovaná obchodníky, banka bez rozpočtu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Částečně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SavingsEdge, Easy Savings, Business Savings/Bonus, Revolut Rewards, Amex Offers; „bez rozpočtu“ jen pro nabídky, body nese emitent; vztah u SavingsEdge drží schéma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Podnikatelé používají osobní produkty mj. kvůli odměnám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Částečně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Mastercard: 80 % z &gt;10 000 SME, ~1/3 kvůli odměnám [CLAIM 10/2024]; USA 26 % firem platí osobní kartou [CLAIM]; ČR striktně odděluje ~1/4 [CLAIM]; mechanismus vyloučení doložen (SLSP, ČS)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ČR nikdo nemá ucelený program, jen cashback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Převážně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tierů u 12 bank; 1 % cashback KB, MONETA, mBank; výhrady: MONETA Odměny pro FOP (D), ČS/ČSOB nefinanční benefity (F)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B03 · ČR – INVENTURA BANK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Český trh zná jen dva vzorce: 1 % na podnikatelské kreditní kartě a slevy financované schématem – tierová logika chybí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12 bank posouzeno; Partners, Trinity a Oberbank nehodnoceno [DATA GAP].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kb.cz, moneta.cz, csob.cz (11/2025), rb.cz (1. 5. 2026), airbank.cz + e15.cz, mbank.cz (03/2026), revolut.com, wise.com, csas.cz · FACT / STALE / CLAIM / DATA GAP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  <a:gridCol w="1463040"/>
                <a:gridCol w="1399032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pro podnikatele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program otevřený podnikatelům?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Hodnocení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Značka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Česká spořitelna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Benefity pro firmy: Visa Business slevy (Bolt, EasyPark, foodora, wflow); business kreditky bez odměn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Odměny: podnikatelská karta nezmíněna; Moneyback dle článku jen soukromá karta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 vlastní program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FACT/STALE, CLAIM, DATA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Kreditní karta Business: 1 % zpět, garance do 31. 12. 2026; strop „29 000 Kč měs.“ nejasný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„Klub věrnosti“ jen v článku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 na kreditní kartě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FACT, CLAIM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ČSOB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Pojištění k podnikatelským kartám (11/2025)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Svět odměn ukončen 31. 12. 2024; Kate Coins pro podnikatele nejasné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STALE, DATA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Raiffeisenbank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Nenalezeno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výhod KK (1. 5. 2026) jen retailové karty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Card 1 % bez stropu; kampaně 5 % PHM / hobby (AKV)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Odměny otevřený FOP vč. karet Business CZK/Premium, PO vyloučeny (22. 6. 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Nejširší nabídka, bez tierů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FACT/STALE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UniCredit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„Benefitní program k platebním kartám“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U-šetřete – zapojení podnikatelských karet nejasné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Nejasné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CLAIM, DATA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 zpět z podnikatelské karty ukončeno k 30. 6.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„Odměny za placení“ nejasné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zrušen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FACT, DATA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 / Creditas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Nenalezeno (nulové poplatky / jen úrok)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Nenalezeno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 zpět, 2. 3.–31. 12. 2026, jen na telefonickou pozvánku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Cílená retence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03/2026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 / Wise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ČR jen akviziční odměny (Revolut Pro); Revolut cashback jen USA, Wise 0,5 % jen 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Nemá (v ČR)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FACT/STALE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B04 · ČR – NEBANKOVNÍ B2B A ČTENÍ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Tierovou logiku podle obratu mají v ČR jen nebankovní hráči – MAKRO Gold od 33 333 Kč měsíčního obratu, Qatar 5 tierů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Prostor pro vztahový program podnikatelů je v bankách volný.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makro.cz, lufthansagroup.com/cz, qatarairways.com (10/2021), finance.cz, edenred.cz (03/2021), echo24.cz · FACT / CLAIM / STALE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7589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554480"/>
                <a:gridCol w="1828800"/>
                <a:gridCol w="731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Dostupnost v ČR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Značka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PartnerPlusBenefit (Lufthansa Group)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letecký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(česká verze webu)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za firemní lety, Cash &amp;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BlueBiz (AF-KLM)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letecký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Nejasné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Credits, registrace zdarma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Qatar Beyond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letecký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Nejasné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tierů, vyšší tiery s minimálním obratem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10/2021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MAKRO Blue / Silver / Gold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velkoobchod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(jen s IČO)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= měsíční obrat nad 33 333 Kč; nefinanční výhody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CCS, Shell Card + ClubSmart, Benzina Tankarta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palivo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Sleva 0,40–1,50 Kč/l (CCS), body (Shell), až 1 Kč/l (Benzina)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/ 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T-Mobile Bonus (firemní)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telco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Ukončen 2013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12/2013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 Business Bonus / Ultimate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schéma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Nejasné (NL/DE/FR/ES/IT, RO 02/2025)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Slevy u partnerů; u Ultimate body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/ DATA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American Express firemní karty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Ukončeno (článek)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Rewards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rd Co z inventury plyne"/>
          <p:cNvSpPr/>
          <p:nvPr/>
        </p:nvSpPr>
        <p:spPr>
          <a:xfrm>
            <a:off x="8412480" y="1965960"/>
            <a:ext cx="3227832" cy="39319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21031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z inventury plyne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532888"/>
            <a:ext cx="28620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(a) Plošný 1 % cashback (KB, MONETA, mBank) nemá vztahovou podmínku; Air Bank ho zrušila, mBank dává jen vybraným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(b) Slevy financované schématem (ČS Visa Business, MONETA Odměny) – rozpočet ≈ 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Žádná banka neodměňuje zůstatek, úvěr ani primární účet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MONETA je jediná, která retailový card-linked program otevřela FOP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B05 · ČR – CO SE ZMĚNILO OPROTI V2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Dva údaje z v2 je nutné opravit: Air Bank cashback 1 % skončil 30. 6. 2026 a 1 % pro podnikatele u SLSP se nepotvrdilo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Dopad na deck v2: slidy B27 (ceny účtů) a B37 (profily Air Bank, Fio, Creditas); dokument v2 kap. 4 a kap. 6.2 / BP4.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e15.cz (Air Bank po 30. 6. 2026), banky.cz, airbank.cz pravidla; cdn0.erstegroup.com zveřejnění Moneyback 1. 7. 2025; skrblik.cz (ČS Moneyback) · FACT / CLAIM</a:t>
            </a:r>
            <a:endParaRPr lang="en-US" sz="900" dirty="0"/>
          </a:p>
        </p:txBody>
      </p:sp>
      <p:sp>
        <p:nvSpPr>
          <p:cNvPr id="6" name="card Air Bank: cashback zrušen"/>
          <p:cNvSpPr/>
          <p:nvPr/>
        </p:nvSpPr>
        <p:spPr>
          <a:xfrm>
            <a:off x="548640" y="2057400"/>
            <a:ext cx="3514344" cy="39319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Bank: cashback zrušen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24328"/>
            <a:ext cx="31485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1 % zpět z plateb podnikatelskou kartou ukončeno k 30. 6. 2026; od 1. 7. 2026 nárok nevzniká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Rovnocenná náhrada nenalezena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v2 uvádělo „0 Kč + 1 % cashback“ [STALE 03/2026] → opravit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Konkurenční okno pro akviziční sezónu 2027 (BP4): podnikatelé Air Bank přišli o odměnu</a:t>
            </a:r>
            <a:endParaRPr lang="en-US" sz="1150" dirty="0"/>
          </a:p>
        </p:txBody>
      </p:sp>
      <p:sp>
        <p:nvSpPr>
          <p:cNvPr id="9" name="card SLSP: 1 % pro podnikatele nepotvrzeno"/>
          <p:cNvSpPr/>
          <p:nvPr/>
        </p:nvSpPr>
        <p:spPr>
          <a:xfrm>
            <a:off x="4337304" y="2057400"/>
            <a:ext cx="3514344" cy="39319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0184" y="2194560"/>
            <a:ext cx="3148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SLSP: 1 % pro podnikatele nepotvrzeno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0184" y="2953512"/>
            <a:ext cx="314858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Moneyback SLSP zahrnuje debetní karty jen k účtům nepodnikatelů + kreditní Visa Classic/Gold [FACT, zveřejnění 1. 7. 2025]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v2 uvádí u SLSP „1 % cashback“ (kap. 6.2, BP4) → ověřit ve skupině Erste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VÚB (Intesa) naopak od 1. 7. 2026 spouští Money back pro firemní kreditní kartu [FACT]</a:t>
            </a:r>
            <a:endParaRPr lang="en-US" sz="1150" dirty="0"/>
          </a:p>
        </p:txBody>
      </p:sp>
      <p:sp>
        <p:nvSpPr>
          <p:cNvPr id="12" name="card ČS: otevřenost Moneybacku neověřena"/>
          <p:cNvSpPr/>
          <p:nvPr/>
        </p:nvSpPr>
        <p:spPr>
          <a:xfrm>
            <a:off x="8125968" y="2057400"/>
            <a:ext cx="3514344" cy="39319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8848" y="2194560"/>
            <a:ext cx="3148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ČS: otevřenost Moneybacku neověřena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08848" y="2953512"/>
            <a:ext cx="314858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Podmínky Odměn: „klient ČS, používá George, 18+“; účinnost dle výtahu 1. 8. 2025 (zadání uvádělo 8. 1. 2026 – možná záměna formátu)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Podnikatelský účet ani karta nezmíněny [DATA GAP]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Článek: Moneyback vyžaduje soukromou kartu ČS [CLAIM]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Krok bez lítosti: ověřit interně a případně otevřít FOP (model MONETA)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B06 · EVROPA – INVENTURA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26 programů pro podnikatele z 8 zemí, téměř všechny pro FOP a malé SME; Španělsko a Polsko soutěží jen akvizičními bonusy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47 záznamů EU-01 až EU-47: 26 věrnostních otevřených podnikatelům, 8 AKV, 5 retailových (H6), 4 DATA GAP.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allica.bank, tide.co, natwest.co.uk, mastercard.com 01/2025, finom.co, n26.com, bbva.es, caixabank.com, moneteo.com, vub.sk, slsp.sk, sasgroup.net 27. 5. 2026 · FACT / STALE / CLAIM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669280"/>
                <a:gridCol w="2651760"/>
                <a:gridCol w="17647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Země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Věrnostní programy pro podnikatele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Akviziční (zvlášť)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Poznámka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Allica (B+C), Tide Rewards (D), Capital on Tap 1 %, Amex Gold/Platinum, Barclaycard, NatWest Business Plus (0,5–3 %), Mastercard Business Savings, Mettle, Wise 0,5 %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Tide 1 % 60 dní + 250 GBP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Starling a Monzo bez vlastního programu; HSBC DATA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bunq cashback 0,5–1 % dle tarifu; bunq + Mastercard Business Bonus (5 zemí od 15. 1. 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Rabobank, ING, ABN AMRO: nic nenalezeno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Finom 1–3 % (strop 10–90 EUR/měs.), Commerzbank Business Card Premium 0,55 % p.a. (79,90 EUR/rok), N26 Business 0,1 % / 0,5 %, Amex Gold 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Qonto 250 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Sparkasse + Payback (07/2025) jen retail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Amex Business Gold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Shine, BNP Hello Pro bez odměn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BBVA až 1 200 EUR v 1. roce; CaixaBank refund daní až 600 EUR (do 16. 6.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Soutěž o domiciliaci cuota a daní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PKO až 3 600 zł; Santander 3 % max. 150 zł/měs. (do 11/2025); mBank/LeaseLink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PKO přihlásilo známku „PKO Punkty“ [CLAIM]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George Business bez bonusu; Raiffeisen Bonus Premium retail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VÚB Money back pro Mastercard Business World (od 1. 7.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Tatra 5 % max. 50 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SLSP Moneyback podnikatelům uzavřen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EuroBonus Executive Business Card (start podzim 2026, 25 bodů/100 SEK)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DNB, Danske Reward jen retail; Nordea bez odměn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HU, RS, pan-EU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OTP, Banca Intesa: Mastercard Business Bonus; Revolut Business Rewards; Business Bonus Ultimate (white-label)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obdoba SavingsEdge nenalezena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B07 · PŘÍPAD: ALLICA BANK (UK)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Allica platí cashback 1 % / 1,5 % jen firmám, které už přinesly vklady nebo úvěr – cashback jako položka relationship pricingu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Business Rewards Account · typ B + C · segment zavedené SME · přenositelnost do ČR 4/5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allica.bank Key Product Information (V1.3 a hlavní verze, datum neznámé) [FACT/STALE]; internationalaccountingbulletin.com FY25 [CLAIM]</a:t>
            </a:r>
            <a:endParaRPr lang="en-US" sz="900" dirty="0"/>
          </a:p>
        </p:txBody>
      </p:sp>
      <p:sp>
        <p:nvSpPr>
          <p:cNvPr id="6" name="card Mechanika a vstupní brána"/>
          <p:cNvSpPr/>
          <p:nvPr/>
        </p:nvSpPr>
        <p:spPr>
          <a:xfrm>
            <a:off x="548640" y="2057400"/>
            <a:ext cx="5394960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Mechanika a vstupní brána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2432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Účet bez měsíčního poplatku, bez úroku na běžném zůstatku; 1 % cashback z plateb kartou, 1,5 % nad měsíčním prahem; pojmenovaný RM a spořicí „pot“ [FACT, 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Brána: firma založená min. 12 měsíců A zůstatek 50 000 GBP+ NEBO úvěr u Allica [FACT]; dle KPI V1.3 jen stávající klienti na pozvání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Práh pro 1,5 %: 10 000 GBP (KPI) vs. 4 000 GBP (tisk FY25) – hodnota 15 000 GBP z výchozí stopy nepotvrzena</a:t>
            </a:r>
            <a:endParaRPr lang="en-US" sz="1150" dirty="0"/>
          </a:p>
        </p:txBody>
      </p:sp>
      <p:sp>
        <p:nvSpPr>
          <p:cNvPr id="9" name="card Ekonomika [EST]"/>
          <p:cNvSpPr/>
          <p:nvPr/>
        </p:nvSpPr>
        <p:spPr>
          <a:xfrm>
            <a:off x="6217920" y="2057400"/>
            <a:ext cx="5422392" cy="18288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194560"/>
            <a:ext cx="5056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Ekonomika [EST]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24328"/>
            <a:ext cx="5056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Útrata 20 000 GBP/měs. při prahu 10 000 GBP: 10 000 × 1 % + 10 000 × 1,5 % = 250 GBP/měs.; při prahu 4 000 GBP = 280 GBP/měs.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Financuje banka z vkladové a úvěrové marže a interchange</a:t>
            </a:r>
            <a:endParaRPr lang="en-US" sz="1150" dirty="0"/>
          </a:p>
        </p:txBody>
      </p:sp>
      <p:sp>
        <p:nvSpPr>
          <p:cNvPr id="12" name="card Důkaz a co si ČS vezme"/>
          <p:cNvSpPr/>
          <p:nvPr/>
        </p:nvSpPr>
        <p:spPr>
          <a:xfrm>
            <a:off x="6217920" y="4069080"/>
            <a:ext cx="5422392" cy="201168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4206240"/>
            <a:ext cx="5056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Důkaz a co si ČS vezme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636008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Klienti Rewards účtu 6 000+ → 14 000+ (FY25); vklady banky +29 % na 5,7 mld. GBP [CLAIM]; kauzalita neprokázána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Vzít: cashback jako booster uvnitř vztahového tieru (V3), brána „12+ měsíců a vztah“ chrání před krátkodobými klienty; riziko = revize IFR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B08 · PŘÍPAD: VÚB vs. SLSP (SK)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Konkurent Intesa (VÚB) od 1. 7. 2026 odměňuje firemní kreditku, zatímco Erste (SLSP) podnikatele z Moneybacku vylučuje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Money back pro Mastercard Business World vs. Moneyback SLSP · typ A · přenositelnost 5/5 (sousední trh, stejná konstelace Erste vs. konkurent)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vub.sk štatút Moneyback 1. 7. 2026 [FACT]; podnikajte.sk [FACT]; cdn0.erstegroup.com zveřejnění Moneyback 1. 7. 2025 [FACT]</a:t>
            </a:r>
            <a:endParaRPr lang="en-US" sz="900" dirty="0"/>
          </a:p>
        </p:txBody>
      </p:sp>
      <p:sp>
        <p:nvSpPr>
          <p:cNvPr id="6" name="card VÚB (Intesa Sanpaolo)"/>
          <p:cNvSpPr/>
          <p:nvPr/>
        </p:nvSpPr>
        <p:spPr>
          <a:xfrm>
            <a:off x="548640" y="2057400"/>
            <a:ext cx="5408676" cy="28346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VÚB (Intesa Sanpaolo)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24328"/>
            <a:ext cx="50429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Štatút od 1. 7. 2026 do odvolání; měsíční peněžní bonus na kartový účet za aktivní používání firemní kreditní karty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Pro FO podnikatele i PO, kterým banka poskytla úvěrový limit [FACT]; sazba bonusu [DATA GAP]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Ve stejný den ruší pojištění zneužití karty pro PO a lounge benefity Zlaté Mastercard Business → hodnota se přesouvá z F (benefity) do A (cashback)</a:t>
            </a:r>
            <a:endParaRPr lang="en-US" sz="1150" dirty="0"/>
          </a:p>
        </p:txBody>
      </p:sp>
      <p:sp>
        <p:nvSpPr>
          <p:cNvPr id="9" name="card SLSP (Erste)"/>
          <p:cNvSpPr/>
          <p:nvPr/>
        </p:nvSpPr>
        <p:spPr>
          <a:xfrm>
            <a:off x="6231636" y="2057400"/>
            <a:ext cx="5408676" cy="28346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219456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SLSP (Erste)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14516" y="2624328"/>
            <a:ext cx="50429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Moneyback zahrnuje debetní karty jen k účtům nepodnikatelů a kreditní karty Visa Classic/Gold; vyžaduje aktivaci [FACT 07/2025]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Podnikatelé jsou z debetní části vyloučeni; cashback 1 % pro podnikatele (stopa z v2) nepotvrzen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Stejná platforma George jako ČS – nastavení programu je skupinové rozhodnutí, ne vývoj</a:t>
            </a:r>
            <a:endParaRPr lang="en-US" sz="1150" dirty="0"/>
          </a:p>
        </p:txBody>
      </p:sp>
      <p:sp>
        <p:nvSpPr>
          <p:cNvPr id="12" name="takeaway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2120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 si ČS vezme: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ověřit, zda ČS Moneyback vylučuje podnikatelské karty stejně jako SLSP (článek: soukromá karta [CLAIM]); pokud ano, otevřít ho FOP po vzoru MONETA. Odměna vázaná na úvěrový limit (model VÚB) podporuje čerpání a platí ji commercial interchange.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B09 · PŘÍPAD: MASTERCARD BUSINESS SAVINGS / BONUS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Vrstva nabídek financovaných obchodníky už běží u NatWest, bunq, Mettle, OTP a Intesa – bez rozpočtu banky, ale bez diferenciace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Typ D · segment FOP/mikro + SME · přenositelnost 5/5 technicky, dostupnost pro ČR [DATA GAP]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natwestgroup.com 05/2024 [FACT, STALE]; mastercard.com/news bunq 15. 1. 2025 [FACT]; mettle.co.uk, otpbank.hu, bancaintesa.rs [STALE]; mastercard.com Business Bonus Ultimate 2024 [CLAIM]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mil.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držitelů business debetních karet NatWest/RBS/Ulster zapojených automaticky (05/2024) [FACT, STALE]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1 000+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nabídek obchodníků (LUX, McAfee, Heathrow Express, Dropbox, Avis, Microsoft Advertising) [FACT, STALE]</a:t>
            </a:r>
            <a:endParaRPr lang="en-US" sz="1150" dirty="0"/>
          </a:p>
        </p:txBody>
      </p:sp>
      <p:sp>
        <p:nvSpPr>
          <p:cNvPr id="10" name="card Mechanika, ekonomika, přenos"/>
          <p:cNvSpPr/>
          <p:nvPr/>
        </p:nvSpPr>
        <p:spPr>
          <a:xfrm>
            <a:off x="4114800" y="2011680"/>
            <a:ext cx="7525512" cy="41148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2148840"/>
            <a:ext cx="7159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Mechanika, ekonomika, přenos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578608"/>
            <a:ext cx="71597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Automatický cashback od obchodníka na výpis do 3–5 dní, bez registrace a kuponů; klient je zapsán s každou způsobilou business kartou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bunq od 15. 1. 2025 v NL, DE, FR, ES, IT (Google Workspace, Docusign, HubSpot, Sixt, Booking.com, FedEx, Fiverr) [FACT]; OTP HU, Banca Intesa RS [STALE]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Business Bonus Ultimate (2024) přidává body (cashback, pay-with-points, nabídky) jako white-label pro emitenty – body už nese emitent [CLAIM]; konkrétní emitent nenalezen [DATA GAP]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Nabídky financují obchodníci, program provozuje Mastercard → rozpočet banky ≈ 0; podmínky pro vydavatele neveřejné [DATA GAP]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Data o využití a vlivu na retenci nejsou veřejná [DATA GAP]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ČS už podobný model má s Visou („Benefity pro firmy“) → V1 = zapnout pro všechny podnikatelské karty a ukázat v George Business; nic dalšího od vrstvy nečekat – stejnou nabídku dostane každý se stejnou kartou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B10 · EVROPA – AKVIZICE V KABÁTU LOYALTY A DISINTERMEDIACE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Ve Španělsku a Polsku se „aktivitní“ odměna vyplácí jen 6–12 měsíců novým klientům; SAS si staví firemní kartu bez banky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bbva.es, caixabank.com (16. 6. 2026), moneteo.com (PKO, Santander PL), leaselink.pl (08/2025), tatrabanka.sk (2024), sasgroup.net + nordiska.com 27. 5. 2026 · FACT / STALE / CLAIM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914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(AKV)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Značka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BBVA Cuenta Negocios Bienvenida (ES)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33,33 EUR/měs. za domiciliaci cuota + 10 + 10 + 10 EUR/měs. + 2 % palivo, až 1 200 EUR v 1. roce; do 31. 12.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CaixaBank Cuenta Pymes Online (ES)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daní do 100 EUR/měs., max. 600 EUR, prvních 400 klientů; ukončeno 16. 6.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PKO BP (PL)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10 % výdajů, max. 3 600 zł ve 3 obdobích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/ 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Bank Polska (PL)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3 % cashback max. 150 zł/měs., do 30. 11.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11/2025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mBank / LeaseLink (PL), Tatra banka (SK), Tide (UK), Qonto (DE)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 za otevření účtu; 5 % max. 50 EUR k nové kreditce; 1 % 60 dní + 250 GBP; 250 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 SAS EuroBonus Executive Business Card"/>
          <p:cNvSpPr/>
          <p:nvPr/>
        </p:nvSpPr>
        <p:spPr>
          <a:xfrm>
            <a:off x="8046720" y="1691640"/>
            <a:ext cx="3593592" cy="44805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0" y="1828800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 EuroBonus Executive Business Card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587752"/>
            <a:ext cx="3227832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Oznámena 27. 5. 2026, start podzim 2026 (SE/NO/DK); 25 bodů za 100 SEK/DKK/NOK, 20 000 level bodů ročně, lounge, Priority Pass [FACT + CLAIM]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Emitent Nordiska (card-as-a-service), aplikaci dodává Cardlay; dříve co-brand se SEB Kort, Amex Nordics a Lunar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Aerolinka přebírá vztah se SME klientem od bank → hrozba disintermediace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Přenositelnost do ČR 2/5 (chybí silný domácí letecký program); poučení: embedded partner umí postavit firemní kartu nebankovní značce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57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Čtení: akviziční bonus ≠ věrnostní program. Pro ČR je to alternativní nástroj k BP4 (first account), ne náhrada vztahového programu.</a:t>
            </a:r>
            <a:endParaRPr lang="en-US" sz="115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B11 · SVĚT – INVENTURA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 USA je 1,5–2 % flat cashback na business kartě standard; Kanada, Austrálie a Singapur jedou na bodech aerolinek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27 programů mimo Evropu otevřených podnikatelům (WD-01 až WD-28) + 10 corporate záznamů (CO-01 až CO-10).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chase.com, capitalone.com, wellsfargo.com, usbank.com, americanexpress.com, brex.com (08/2026), rbcroyalbank.com, td.com, commbank.com.au (T&amp;C 28. 9. 2026), nab.com.au, qantas.com, singaporeair.com, emirates.com, dbs.com.sg, ocbc.com · FACT / STALE / CLAIM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116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766560" y="2011680"/>
            <a:ext cx="48737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USA kategorie 3–5 % se stropy: Ink Business Cash 5 % do 25 000 USD/rok [FACT]; Ink Preferred 3x do 150 000 USD [CLAIM]; U.S. Bank 3 % / 1 % [STALE]; Amex Business Gold kredit až 240 USD/rok [FACT 2026]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Fintechy: Brex body 7x/4x/3x/2x/1x vyplácené na Brex účet [FACT 08/2026]; Ramp cashback na Ramp účet, sazba [DATA GAP] – karta jako háček pro celou platformu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Kanada: RBC Avion Business 1 / 1,25 bodu za CAD, slučování s osobní kartou (H6) [STALE]; TD 9/6/2 body [STALE]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Austrálie: Qantas Business Rewards (firma 20/30/40 bodů na 100 bodů cestujících, vstup 89,50 AUD) + co-brand CommBank, NAB (+50 000 bodů za 15 měsíců), Westpac, ANZ [STALE]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Asie: SIA HighFlyer 5 bodů/SGD, Emirates Business Rewards 1 bod/USD („30 000+ MSME“ [CLAIM]), DBS 1 % při ≥ 2 000 SGD/měs. [STALE]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B12 · PŘÍPAD: BANK OF AMERICA – PREFERRED REWARDS FOR BUSINESS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Tier podle zůstatku sám nic nevyplácí – odpouští poplatky, zlevňuje úvěr a násobí kartové odměny; banka kupuje zůstatek a vztah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Typ C (booster → A, B, F) · segment FOP/mikro + SME · přenositelnost 5/5 · nejbližší vzor pro BP5 / George Business One a BB2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bankofamerica.com FAQ 2026 (tiery, pokračování programu) [FACT]; business.bankofamerica.com (benefity, datum neznámé) [STALE]; BofA ARS FY2025 [CLAIM]; newsroom 02/2026, 07/2026 [FACT]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223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371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3měsíční průměrný zůstatek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ke kartovým odměnám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Další benefity (všechny tiery, odstupňované)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20 000 USD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poplatků až na 4 + 4 účtech; booster úroku na spoření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50 000 USD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−0,25 p.b. z úrokové sazby nových úvěrů a linek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 Honors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100 000 USD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−0,05 % merchant services; benefity drží min. 1 rok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0624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Kvalifikuje kombinovaný zůstatek na business vkladech a investicích Merrill; upgrade automatický; program zdarma [FACT]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Ilustrace [EST]: útrata 100 000 USD na kartě s 1,5 % = 1 500 USD; v tieru Platinum bonus 50 % = +750 USD/rok – bonus roste s útratou, vstup řídí zůstatek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Když BofA 27. 5. 2026 nahradil retailový program programem BofA Rewards, business program ponechal beze změny [FACT 02/2026]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Veřejná data o členech a retenci business programu chybí [DATA GAP]; celý Preferred Rewards: 11,4 mil. členů, 99% retence [CLAIM]</a:t>
            </a:r>
            <a:endParaRPr lang="en-US" sz="1050" dirty="0"/>
          </a:p>
        </p:txBody>
      </p:sp>
      <p:sp>
        <p:nvSpPr>
          <p:cNvPr id="8" name="card Co si ČS vezme"/>
          <p:cNvSpPr/>
          <p:nvPr/>
        </p:nvSpPr>
        <p:spPr>
          <a:xfrm>
            <a:off x="8046720" y="2011680"/>
            <a:ext cx="3593592" cy="41605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0" y="214884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ČS vezme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578608"/>
            <a:ext cx="32278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Architekturu pro BP5 / George Business One a BB2: tier podle zůstatku + úvěru → odpuštění poplatků, sleva z úvěru, booster cashbacku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Prahy kalibrovat na distribuci zůstatků SB klientů ČS [DATA GAP]; hodnoty v USD nepřebírat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Pravidlo „benefity drží rok“ – u OSVČ důležité kvůli sezónním daňovým platbám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Nepotřebuje obchodníky ani schéma: jen data o zůstatcích, ceník a úvěrový pricing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B13 · PŘÍPAD: VISA SAVINGSEDGE, MASTERCARD EASY SAVINGS, BREX / RAMP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Schémata nabízejí vrstvu bez rozpočtu banky, fintechy vážou odměnu na vlastní účet – obě cesty mění kartu v akviziční kanál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Typ D (schémata) a A s výplatou na účet (fintechy) · přenositelnost 4/5 (schémata), princip 5/5 (výplata na účet)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usa.visa.com press 12.–13. 6. 2024 [FACT]; mastercard.com Easy Savings [STALE/CLAIM]; novo.co 06/2026 [FACT]; brex.com 08/2026 [FACT]; ramp.com [CLAIM]</a:t>
            </a:r>
            <a:endParaRPr lang="en-US" sz="900" dirty="0"/>
          </a:p>
        </p:txBody>
      </p:sp>
      <p:sp>
        <p:nvSpPr>
          <p:cNvPr id="6" name="card Visa SavingsEdge (USA + Kanada)"/>
          <p:cNvSpPr/>
          <p:nvPr/>
        </p:nvSpPr>
        <p:spPr>
          <a:xfrm>
            <a:off x="548640" y="2057400"/>
            <a:ext cx="3514344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Visa SavingsEdge (USA + Kanada)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24328"/>
            <a:ext cx="314858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Relaunch 12.–13. 6. 2024 pro Visa Business kreditní, debetní i prepaid karty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Dvě cesty: Instant Coupons (kód u pokladny) a Cashback Offers (kredit na výpisu po registraci karty)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Financují obchodníci, provozuje Visa – vztah s držitelem drží schéma, ne banka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Evropská obdoba nenalezena [DATA GAP]</a:t>
            </a:r>
            <a:endParaRPr lang="en-US" sz="1150" dirty="0"/>
          </a:p>
        </p:txBody>
      </p:sp>
      <p:sp>
        <p:nvSpPr>
          <p:cNvPr id="9" name="card Mastercard Easy Savings (globálně)"/>
          <p:cNvSpPr/>
          <p:nvPr/>
        </p:nvSpPr>
        <p:spPr>
          <a:xfrm>
            <a:off x="4337304" y="2057400"/>
            <a:ext cx="3514344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0184" y="219456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Mastercard Easy Savings (globálně)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0184" y="2624328"/>
            <a:ext cx="314858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Automatické rebaty bez kuponů, bez ročního poplatku, sledované v aplikaci a na výpisu [STALE]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„Až 20 %“, „50 000+ lokací“ [CLAIM]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Aktivní u neobanky Novo (06/2026) [FACT]; stránky pro SG, IN, MY, MT, MEA; spuštění Ukrajina 2024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Dostupnost pro CZ BIN range a model pro vydavatele [DATA GAP: Mastercard CEE]</a:t>
            </a:r>
            <a:endParaRPr lang="en-US" sz="1150" dirty="0"/>
          </a:p>
        </p:txBody>
      </p:sp>
      <p:sp>
        <p:nvSpPr>
          <p:cNvPr id="12" name="card Brex a Ramp (USA fintechy)"/>
          <p:cNvSpPr/>
          <p:nvPr/>
        </p:nvSpPr>
        <p:spPr>
          <a:xfrm>
            <a:off x="8125968" y="2057400"/>
            <a:ext cx="3514344" cy="402336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8848" y="2194560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Brex a Ramp (USA fintechy)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08848" y="2624328"/>
            <a:ext cx="314858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Brex: 7x rideshare, 4x lety a hotely, 3x restaurace, 2x software, 1x ostatní; bez stropu, výplata na Brex účet [FACT 08/2026]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Ramp: flat cashback bez poplatku, převoditelný na Ramp Checking; sazba [DATA GAP]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Odměna napojená na vlastní účet nebo spend platformu – karta je háček pro celou AP/expense platformu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Stejný princip jako vztahový balíček banky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B14 · EKONOMIKA – KDO PROGRAMY FINANCUJE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Čtyři zdroje peněz: interchange, obchodníci, marže z vkladů a úvěrů a poplatek za tarif – každý nese jinou mechaniku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EuroCommerce 22. 5. 2026 [CLAIM]; Mastercard intra-EEA 22. 1. 2021 a ČR 1. 3. 2022 [STALE]; Visa USA IRF 18. 4. 2026 [FACT]; Cardlytics 20. 5. 2025 [CLAIM]; Curinos 01/2024 [STALE]; bunq, N26, Finom, Commerzbank [STALE]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760720"/>
                <a:gridCol w="2011680"/>
                <a:gridCol w="130759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Zdroj financování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Doklad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Které mechaniky nese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Značka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Interchange (vydavatel)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commercial 1,3–2,4 %; Mastercard intra-EEA Corporate 1,90 %, BusinessCard 1,65 %; ČR Corporate 2,10 % / bezkontaktně 1,70 %; sazebník ČR k 1. 1. 2026 existuje, hodnoty neověřeny; USA Visa commercial 1,75–2,95 % + 0,10 USD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karetní odměny, G rebaty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/ STALE / FACT / DATA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Obchodníci (merchant-funded)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SavingsEdge, Mastercard Business Savings/Bonus a Easy Savings, Amex Offers, Cardlytics (~400 bank; od 05/2025 i mimo banky), Tide Rewards (Valuedynamx), Revolut Business Rewards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nabídky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STALE / 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Marže z vkladů a úvěrů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BofA: vstup od 20 000 USD zůstatku; Allica: 50 000 GBP+ nebo úvěr; ECR v USA: průměr 76–79 bps vs. 300+ bps u úročených účtů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tier, B cashback za vztah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/ STALE / 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Poplatek za tarif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bunq 0,5 % → 1 %, N26 0,1 % → 0,5 %, Finom 1 % → 3 % s placeným tarifem; Commerzbank 79,90 EUR/rok za 0,55 %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 neobank, placené tiery (F)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/ 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Vlastní rozpočet schématu / emitenta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SavingsEdge provozuje Visa přímo vůči držiteli; body v Business Bonus Ultimate nese emitent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D, A (white-label)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/ DATA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Amex (celá firma): rewards expense 4 378 / 4 430 / 4 168 mil. USD za Q1–Q3 2025 [FACT, STALE]; rozpad na Commercial Services [DATA GAP]. Náklady na Membership Rewards a cashback +1 234 mil. USD „primarily driven by higher billed business“ [FACT, 10-K FY2025].</a:t>
            </a:r>
            <a:endParaRPr lang="en-US" sz="105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B15 · EKONOMIKA – IFR A INTERCHANGE (H4)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Výjimka IFR dává firemním kartám v EU interchange srovnatelnou s USA; velkorysost amerických odměn dělá neregulovaný kredit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H4 částečně potvrzena: první dvě části ano, příčinné vysvětlení rozdílu EU–USA upraveno.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legislation.gov.uk IFR čl. 1 a 2 [FACT]; Federal Register 14. 11. 2023 [FACT]; Consumer Finance Monitor 08/2025 [FACT]; Mastercard ČR 03/2022 [STALE]; Visa USA IRF 04/2026 [FACT]; EuroCommerce 05/2026 [CLAIM]; OCBC [STALE]</a:t>
            </a:r>
            <a:endParaRPr lang="en-US" sz="900" dirty="0"/>
          </a:p>
        </p:txBody>
      </p:sp>
      <p:sp>
        <p:nvSpPr>
          <p:cNvPr id="6" name="card EU – právní rámec"/>
          <p:cNvSpPr/>
          <p:nvPr/>
        </p:nvSpPr>
        <p:spPr>
          <a:xfrm>
            <a:off x="548640" y="2057400"/>
            <a:ext cx="5408676" cy="406908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– právní rámec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24328"/>
            <a:ext cx="50429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Kapitola II IFR (stropy 0,2 % debet / 0,3 % kredit) se nevztahuje na transakce commercial karet – čl. 1 odst. 3 písm. a)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Commercial card = karta vydaná podniku, veřejnému subjektu nebo OSVČ, omezená na podnikatelské výdaje, účtovaná přímo na jejich účet [FACT] → zřejmě i debetní karta OSVČ k podnikatelskému účtu; osobní karta OSVČ ne [interpretace]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Studie Komise (EY, Copenhagen Economics) 2020: bez známek přesunu k neregulovaným kartám [FACT, STALE 06/2020]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2025–26: Metro CEO a EuroCommerce žádají rozšíření stropů; přeplatek 2025 ≥ 4 mld. EUR [CLAIM]; návrh Komise nenalezen [DATA GAP]</a:t>
            </a:r>
            <a:endParaRPr lang="en-US" sz="1150" dirty="0"/>
          </a:p>
        </p:txBody>
      </p:sp>
      <p:sp>
        <p:nvSpPr>
          <p:cNvPr id="9" name="card USA a závěr"/>
          <p:cNvSpPr/>
          <p:nvPr/>
        </p:nvSpPr>
        <p:spPr>
          <a:xfrm>
            <a:off x="6231636" y="2057400"/>
            <a:ext cx="5408676" cy="406908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219456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a závěr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14516" y="2624328"/>
            <a:ext cx="50429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Reg II (Durbin): strop 21 c + 5 bp + 1 c jen pro debetní karty vydavatelů ≥ 10 mld. USD aktiv [FACT]; kredit a business karty bez stropu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Soud v Severní Dakotě 6. 8. 2025 Reg II zrušil, rozhodnutí pozastaveno do odvolání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Visa USA commercial 1,75–2,95 % + 0,10 USD (od 18. 4. 2026) [FACT] ≈ EU commercial 1,3–2,4 % [CLAIM] → samotná výjimka rozdíl nevysvětluje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Rozdíl dělá: (a) žádný strop ani na spotřebitelský kredit v USA [FACT], (b) úroky z kreditek a Amex, (c) kreditní kultura [hypotézy, DATA GAP]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Kontrast Singapur: OCBC 0,2 % na SGD útratě [STALE]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B16 · EKONOMIKA – DOLOŽENÉ DOPADY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Žádná studie s kontrolní skupinou nedokládá, že program zvyšuje retenci SME – odměna je hygienický faktor karty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Statistiky agregátorů bez metodiky byly vyřazeny.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jdpower.com 12/2025 [FACT]; mckinsey.com (data 2023) [FACT, STALE]; BofA ARS FY2025 [CLAIM]; Allica FY25 přes tisk [CLAIM]; Amex Q2 2025 [FACT]; Mastercard Europe 10/2024 [CLAIM]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  <a:gridCol w="2011680"/>
                <a:gridCol w="15819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Zdroj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Zjištění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Metodika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Síla důkazu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J.D. Power 2025 U.S. Small Business Credit Card Study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716/1 000 (+8); „rewards earning“ 6. ze 7 dimenzí podle váhy; Amex 750, Chase 718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3 728, sběr 7–9/2025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– korelační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McKinsey, SME banking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13 % SME změnilo primární banku za 24 měsíců (2023 vs. 5 % v 2022); důvody: digitál, servis, úvěr; RM jako kritérium 47 %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Průzkum, N neuvedeno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FACT, 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of America ARS FY2025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Rewards (všechny segmenty): 11,4 mil. členů, 99% retence, ~500 USD odměn/klienta/rok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kontrolní skupiny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Allica FY25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Klienti Rewards účtu 6 000+ → 14 000+; vklady +29 % na 5,7 mld. GBP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Výsledky přes tisk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CLAIM, kauzalita neprokázána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Amex Q2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(&lt; 300 mil. USD tržeb) = 82 % objemů Commercial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Segmentové 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FACT, 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Mastercard, &gt; 10 000 SME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 používá osobní bankovní produkty, ~1/3 kvůli odměnám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Země, období, agentura nezveřejněny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CLAIM, STALE 10/2024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Bain, Economics of loyalty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Promotéři +45 % vkladů, +25 % produktů (retail, ne SME)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Poradenská firma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B17 · CORPORATE – ČÍM SE LOAJALITA NAHRAZUJE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 mid a large corporate kupuje loajalitu rebate v bps, earnings credit a relationship pricing – GSA SmartPay vrací 1,20 %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H2 a H3 potvrzeny. Pro ČR přenositelnost 2/5 (rebaty) až 3/5 (ECR jako transparentní relationship pricing).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smartpay.gsa.gov FY2025 + 3. 4. 2026 [FACT]; NYS OGS, NC DOA, WA DES kontrakty [STALE]; Texas Comptroller 3. 7. 2024 [FACT, STALE]; AFP [FACT]; Curinos 01/2024 [STALE]; McKinsey, Oliver Wyman 2023, BCG 2018 [CLAIM]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1,20 %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efektivní rebate GSA SmartPay FY2025: 471 mil. USD z 39,4 mld. USD útraty [FACT] = EST</a:t>
            </a:r>
            <a:endParaRPr lang="en-US" sz="1150" dirty="0"/>
          </a:p>
        </p:txBody>
      </p:sp>
      <p:sp>
        <p:nvSpPr>
          <p:cNvPr id="8" name="card Rebaty u commercial karet (G)"/>
          <p:cNvSpPr/>
          <p:nvPr/>
        </p:nvSpPr>
        <p:spPr>
          <a:xfrm>
            <a:off x="3840480" y="2011680"/>
            <a:ext cx="3762756" cy="41148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2148840"/>
            <a:ext cx="3396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Rebaty u commercial karet (G)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578608"/>
            <a:ext cx="339699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Smluvní roční revenue share podle objemu (tiery) a rychlosti úhrady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JPM–New York 180,5–43 bps podle tieru; BofA–Severní Karolína 1,99–2,18 % podle objemu (350–550+ mil. USD) a doby úhrady 2–25 dní; U.S. Bank–NASPO 34,75 bps [STALE]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Citi–Texas 1,93 % + 0,75 bp za každý den dřívější úhrady [FACT, STALE 07/2024]; US Commerce: týdenní výpis 157–168 bps vs. 109–120 bps [STALE]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Financuje commercial interchange 1,30 % + 35 USD až 2,95 % + 0,10 USD [FACT 04/2026]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J.P. Morgan case Ashton Woods: +98 % útraty, +303 % rebate [CLAIM]</a:t>
            </a:r>
            <a:endParaRPr lang="en-US" sz="1150" dirty="0"/>
          </a:p>
        </p:txBody>
      </p:sp>
      <p:sp>
        <p:nvSpPr>
          <p:cNvPr id="11" name="card Earnings credit a relationship pricing (C, F)"/>
          <p:cNvSpPr/>
          <p:nvPr/>
        </p:nvSpPr>
        <p:spPr>
          <a:xfrm>
            <a:off x="7877556" y="2011680"/>
            <a:ext cx="3762756" cy="41148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60436" y="2148840"/>
            <a:ext cx="3396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credit a relationship pricing (C, F)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60436" y="2907792"/>
            <a:ext cx="339699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ECR: zůstatky na neúročeném účtu generují kredit, který se odečte od poplatků za cash management [FACT – AFP]; průměr 76–79 bps vs. 300+ bps u úročených účtů (2023–24) [STALE, CLAIM Curinos]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McKinsey: ~5 % strategických klientů = polovina výnosů banky; primární vztah ROE o ~20 p.b. vyšší [CLAIM]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Oliver Wyman 2023: subscription pricing; BCG 2018: špatně nastavený balíček vede ke ztrátě [CLAIM]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BofA Employee Banking &amp; Investing: benefity zaměstnancům korporátních klientů (titulek: 4 mil.) [STALE, CLAIM]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Pro ČS: nestavět bodový program; transparentní „zůstatek kompenzuje poplatky“; objem commercial karet v ČR [DATA GAP]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B18 · DOMÁCÍ PŘÍPADY: MONETA A AIR BANK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MONETA jako jediná otevřela retailový program podnikatelům; Air Bank ukazuje, že plošný cashback bez vztahové brány se nezaplatí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Přenositelnost 5/5 (domácí trh). Air Bank jako negativní případ.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moneta.cz (Business Card; Program Odměny podmínky 22. 6. 2025) [FACT/STALE]; e15.cz, banky.cz, airbank.cz pravidla (ukončení 30. 6. 2026) [FACT]; v2 (Air Bank &gt; 65 tis. účtů 1/2026, 17 % FO Fakturoid 9/2026) [FACT]</a:t>
            </a:r>
            <a:endParaRPr lang="en-US" sz="900" dirty="0"/>
          </a:p>
        </p:txBody>
      </p:sp>
      <p:sp>
        <p:nvSpPr>
          <p:cNvPr id="6" name="card MONETA – Business Card 1 % + Program Odměny pro FOP"/>
          <p:cNvSpPr/>
          <p:nvPr/>
        </p:nvSpPr>
        <p:spPr>
          <a:xfrm>
            <a:off x="548640" y="2057400"/>
            <a:ext cx="5408676" cy="406908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 – Business Card 1 % + Program Odměny pro FOP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24328"/>
            <a:ext cx="50429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Business Card: podnikatelská kreditní karta s vedením zdarma, 1 % zpět bez stropu, bezúročné období až 55 dní, sjednání online [FACT/STALE]; kampaně 5 % PHM / hobby markety do 1 000 Kč/měs. po 6 měsíců = AKV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Program Odměny (Smart Banka): card-linked nabídky obchodníků; výslovně zahrnuje karty Business CZK a Business Premium fyzických osob podnikatelů, PO vyloučeny [FACT, STALE 06/2025]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Cashback platí interchange kreditní karty, nabídky platí obchodníci; v kontextu v2: MONETA = nejrychlejší růst úvěrů segmentu (+27,5 %) a karta je součást úvěrové propozice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Vzít: totéž udělat s Moneybackem ČS – nízký náklad, podnikatele nepostrkovat k osobní kartě</a:t>
            </a:r>
            <a:endParaRPr lang="en-US" sz="1150" dirty="0"/>
          </a:p>
        </p:txBody>
      </p:sp>
      <p:sp>
        <p:nvSpPr>
          <p:cNvPr id="9" name="card Air Bank – ukončení cashbacku 1 % (negativní případ)"/>
          <p:cNvSpPr/>
          <p:nvPr/>
        </p:nvSpPr>
        <p:spPr>
          <a:xfrm>
            <a:off x="6231636" y="2057400"/>
            <a:ext cx="5408676" cy="406908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4516" y="2194560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Bank – ukončení cashbacku 1 % (negativní případ)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14516" y="2624328"/>
            <a:ext cx="50429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1 % zpět z každé platby podnikatelskou kartou (držitel i disponent), výplata na účet do 10. dne; ukončeno k 30. 6. 2026, náhrada nenalezena [FACT]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Strop programu a důvod ukončení [DATA GAP]; Air Bank nemá podnikatelský úvěr (v2 DATA GAP) → cashback nebyl spojený s úvěrovým výnosem ani vztahovou podmínkou [EST – interpretace]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 době programu &gt; 65 tis. podnikatelských účtů za &lt; 2 roky a 17 % FO ve Fakturoidu [FACT v2]; podíl cashbacku na růstu neznámý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Vzít: V3 vázat na tier (zůstatek, úvěr); pro akviziční sezónu 2027 argument „0 Kč + nabídky obchodníků + tier“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B19 · VARIANTY PRO ČS – DETAIL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Každá varianta má vazbu na BP3/BP4/BP5/BB2, odhad se vzorcem a riziko – V2 je jádro, V1 quick win, V3 a V4 se slučují do V2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Čísla z v2 převzata beze změny; P = předpoklad k ověření na interních datech (Q7 v2).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Report kap. 9 · EST se vzorcem; interchange 2,10 % [STALE 03/2022]; v2 BB2 40–85 mil. Kč/rok, tier 149–299 Kč/měs., 17–35 tis. platících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377440"/>
                <a:gridCol w="4663440"/>
                <a:gridCol w="2194560"/>
                <a:gridCol w="14447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Hrubá ekonomika [EST] se vzorcem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Hlavní rizika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Doporučení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Schémová vrstva nabídek pro podnikatelské karty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Rozpočet odměn ≈ 0; náklad = integrace do George Business + komunikace; podmínky schémat pro vydavatele [DATA GAP]; přínos = hygiena a aktivita karet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Vztah drží schéma; nízká exkluzivita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quick win 0–6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„George Business Preferred“ – vztahový tier podle zůstatku + úvěru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 = odpuštěné poplatky + sleva z úvěru × úvěr + bonus ke cashbacku (0,25 p.b. z 1 mil. Kč = 2 500 Kč/rok); přínos = vkladová marže × přírůstek zůstatků + primární vztah; prahy z distribuce zůstatků [DATA GAP]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Kanibalizace poplatků, kalibrace prahů, governance Retail vs. Corporate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jádro, 6–18 m (s M4 v2)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 na podnikatelské kartě podmíněný vztahem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20 000 klientů × P 30 000 Kč/měs. × 12 × 1 % = 72 mil. Kč/rok cashbacku vs. ≈ 151 mil. Kč interchange (× 2,10 %) před schémovými poplatky; na 10 000 Kč: 210 − 100 = 110 Kč vs. 20 Kč na osobní kartě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Revize IFR (05/2026); Air Bank cashback zrušila; plošně bez brány drahé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jen jako booster uvnitř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Placený tier s benefity místo bodů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Výnos BB2 40–85 mil. Kč/rok; cashback booster +0,5 p.b.: 17–35 tis. platících × P 20 000 Kč/měs. × 12 × 0,5 % = 20–42 mil. Kč nákladu krytého interchange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Ochota platit [DATA GAP – research]; kanibalizace Maxi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12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– sloučit s V2 do jedné architektury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Partnerství s nebankovním B2B programem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 bodů nese banka při co-brandu; ekonomika [DATA GAP]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Disintermediace (SAS); nízký dopad na mikro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MONITOROVAT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B20 · DOPORUČENÁ ARCHITEKTURA A KROKY BEZ LÍTOSTI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Jedna cenová architektura ve čtyřech vrstvách – 0 Kč základ, schémové nabídky, placený tier, vztahový tier; corporate jen pricing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Report kap. 9; v2 Q2 (Živnostník 0 Kč), BP3, BP5, BB2</a:t>
            </a:r>
            <a:endParaRPr lang="en-US" sz="900" dirty="0"/>
          </a:p>
        </p:txBody>
      </p:sp>
      <p:sp>
        <p:nvSpPr>
          <p:cNvPr id="5" name="step 1"/>
          <p:cNvSpPr/>
          <p:nvPr/>
        </p:nvSpPr>
        <p:spPr>
          <a:xfrm>
            <a:off x="548640" y="1828800"/>
            <a:ext cx="2567178" cy="23774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Základ 0 Kč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2014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Živnostník bez podmínek (v2 Q2). Vstupní brána pro ~120 tis. nových subjektů ročně (BP4).</a:t>
            </a:r>
            <a:endParaRPr lang="en-US" sz="1150" dirty="0"/>
          </a:p>
        </p:txBody>
      </p:sp>
      <p:sp>
        <p:nvSpPr>
          <p:cNvPr id="8" name="arrow 1"/>
          <p:cNvSpPr/>
          <p:nvPr/>
        </p:nvSpPr>
        <p:spPr>
          <a:xfrm>
            <a:off x="3143250" y="2834640"/>
            <a:ext cx="219456" cy="365760"/>
          </a:xfrm>
          <a:prstGeom prst="rightArrow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390138" y="1828800"/>
            <a:ext cx="2567178" cy="23774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3018" y="196596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Schémové nabídky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73018" y="2468880"/>
            <a:ext cx="22014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Visa / Mastercard nabídky obchodníků pro všechny podnikatelské karty v George Business (V1). Rozpočet ≈ 0.</a:t>
            </a:r>
            <a:endParaRPr lang="en-US" sz="1150" dirty="0"/>
          </a:p>
        </p:txBody>
      </p:sp>
      <p:sp>
        <p:nvSpPr>
          <p:cNvPr id="12" name="arrow 2"/>
          <p:cNvSpPr/>
          <p:nvPr/>
        </p:nvSpPr>
        <p:spPr>
          <a:xfrm>
            <a:off x="5984748" y="2834640"/>
            <a:ext cx="219456" cy="365760"/>
          </a:xfrm>
          <a:prstGeom prst="rightArrow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tep 3"/>
          <p:cNvSpPr/>
          <p:nvPr/>
        </p:nvSpPr>
        <p:spPr>
          <a:xfrm>
            <a:off x="6231636" y="1828800"/>
            <a:ext cx="2567178" cy="23774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4516" y="196596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Placený tier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14516" y="2468880"/>
            <a:ext cx="22014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Daňový pot + účetní SaaS + pojištění + vyšší cashback za 149–299 Kč/měs. (V4 = BP3, BB2).</a:t>
            </a:r>
            <a:endParaRPr lang="en-US" sz="1150" dirty="0"/>
          </a:p>
        </p:txBody>
      </p:sp>
      <p:sp>
        <p:nvSpPr>
          <p:cNvPr id="16" name="arrow 3"/>
          <p:cNvSpPr/>
          <p:nvPr/>
        </p:nvSpPr>
        <p:spPr>
          <a:xfrm>
            <a:off x="8826246" y="2834640"/>
            <a:ext cx="219456" cy="365760"/>
          </a:xfrm>
          <a:prstGeom prst="rightArrow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tep 4"/>
          <p:cNvSpPr/>
          <p:nvPr/>
        </p:nvSpPr>
        <p:spPr>
          <a:xfrm>
            <a:off x="9073134" y="1828800"/>
            <a:ext cx="2567178" cy="23774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56014" y="196596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Vztahový tier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56014" y="2468880"/>
            <a:ext cx="22014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Podle zůstatku a úvěru: odpuštění poplatků, sleva z úvěru, booster cashbacku na podnikatelské kartě (V2 + V3 = BP5 / BB2).</a:t>
            </a:r>
            <a:endParaRPr lang="en-US" sz="1150" dirty="0"/>
          </a:p>
        </p:txBody>
      </p:sp>
      <p:sp>
        <p:nvSpPr>
          <p:cNvPr id="20" name="card Kroky bez lítosti (0–3 měsíce)"/>
          <p:cNvSpPr/>
          <p:nvPr/>
        </p:nvSpPr>
        <p:spPr>
          <a:xfrm>
            <a:off x="548640" y="4526280"/>
            <a:ext cx="5486400" cy="16916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663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Kroky bez lítosti (0–3 měsíce)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0932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Ověřit, zda podnikatelské karty ČS jsou v Odměnách / Moneybacku; pokud ne, otevřít je FOP (model MONETA)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Ověřit u Mastercardu dostupnost Business Bonus / Easy Savings pro CZ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Změřit podíl útraty FOP na osobních kartách ČS (H6) na interních datech</a:t>
            </a:r>
            <a:endParaRPr lang="en-US" sz="1150" dirty="0"/>
          </a:p>
        </p:txBody>
      </p:sp>
      <p:sp>
        <p:nvSpPr>
          <p:cNvPr id="23" name="card Pro corporate"/>
          <p:cNvSpPr/>
          <p:nvPr/>
        </p:nvSpPr>
        <p:spPr>
          <a:xfrm>
            <a:off x="6309360" y="4526280"/>
            <a:ext cx="5330952" cy="16916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4663440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corporate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093208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Bodový program nestavět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Transparentní relationship pricing typu ECR: zůstatek kompenzuje poplatky za cash management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Rebate jen u velkých AP toků na virtuálních / purchasing kartách, objem commercial karet v ČR [DATA GAP]</a:t>
            </a:r>
            <a:endParaRPr lang="en-US" sz="1150" dirty="0"/>
          </a:p>
        </p:txBody>
      </p:sp>
      <p:sp>
        <p:nvSpPr>
          <p:cNvPr id="26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B21 · OTEVŘENÉ OTÁZKY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Čtrnáct mezer – většinu odemknou interní data ČS a jednání se schématy, ne další externí rešerše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Report kap. 10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852160"/>
                <a:gridCol w="2377440"/>
                <a:gridCol w="249631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Otázka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Proč je důležitá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odemknout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Jsou podnikatelské karty ČS v Odměnách / Moneybacku? Datum podmínek 1. 8. 2025 vs. 8. 1. 2026?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H6, 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Plné PDF podmínek, interně ČS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Podíl útraty FOP na osobních vs. podnikatelských kartách ČS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Velikost interchange páky (V3)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Interní data ČS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Distribuce zůstatků a úvěrů SB klientů ČS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Kalibrace prahů tieru (V2)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Interní data (Q1/Q7 v2)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interchange ČR k 1. 1. 2026; klasifikace karet ČS jako commercial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Ekonomika V3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Sazebníky schémat, karetní tým ČS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 Business Bonus / Easy Savings: dostupnost v ČR, podmínky pro vydavatele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 CEE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Visa: evropská obdoba SavingsEdge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Europe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Revize IFR: návrh Komise, antimonopolní šetření scheme fees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Riziko V3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EUR-Lex, DG COMP / FISMA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VÚB Money back: sazba; SLSP: cashback pro podnikatele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Erste / Intesa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Štatút VÚB, slsp.sk, Erste skupina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Klub věrnosti, ČSOB Kate Coins, UCB U-šetřete, RB karty: otevřenost podnikatelům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Úplnost inventury ČR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Podmínky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Důvod ukončení cashbacku Air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Ekonomika plošného cashbacku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Bank, rozhovory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Kauzální dopad programů na retenci a share of wallet SME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 všech variant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Interní A/B pilot, case studies schémat, J.D. Power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Počet členů a dopad BofA Preferred Rewards for 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Vzor 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BofA 10-K, earnings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Ochota českých podnikatelů platit za tier s benefity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research n ≈ 500 (Q7 v2)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Partners, Trinity, Oberbank; telco a SaaS B2B programy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Úplnost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Weby a podmínky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B22 · QA A ZDROJE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Všech sedm akceptačních kritérií je splněno; slabinou je ověření z výtahů a 78 % záznamů databáze se značkou STALE</a:t>
            </a:r>
            <a:endParaRPr lang="en-US" sz="2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Zdroj: Report kap. 11; loyalty_data/ logy zdrojů (URL · datum zdroje · datum přístupu 6. 10. 2026)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Kritérium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Výsledek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Doklad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Odpověď po segmentech na první stránce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Kap. 1 / A02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H1–H7 s verdiktem a důkazem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Kap. 3 / B02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12 bank ČR; ≥ 5 nebankovních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 (12;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CZ-01 až CZ-36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 programů v Evropě z ≥ 8 zemí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 (26 z 8 + pan-EU)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EU-01 až EU-46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 programů ve světě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 (27 + 10 corporate)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WD-01 až WD-28, CO-01 až CO-10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Každý řádek DB má URL, datum, značku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 s výhradou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× 22 polí; bez data → STALE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Kdo financuje; IFR pro commercial karty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Kap. 7 / B14–B15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variant s vazbou na BP3/BP4/BP5/BB2, EST se vzorcem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Splněno 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Kap. 9 / A07, B19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Rozpočet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 vyhledávání; 0 načtení stránek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Ověření jen z výtahů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 Značky v databázi (125 záznamů)"/>
          <p:cNvSpPr/>
          <p:nvPr/>
        </p:nvSpPr>
        <p:spPr>
          <a:xfrm>
            <a:off x="7772400" y="1600200"/>
            <a:ext cx="3867912" cy="210312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173736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Značky v databázi (125 záznamů)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167128"/>
            <a:ext cx="3502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STALE 97 · FACT 38 · CLAIM 29 · DATA GAP 19 · EST 1 (řádek může nést víc značek)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CZ 37 (31 věrnostních, 5 AKV, 1 gap) · EU 47 (35 / 8 / 4) · WORLD 41 (41 / 0 / 0)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V textu reportu: FACT 77 · EST 19 · STALE 48 · CLAIM 33 · DATA GAP 27</a:t>
            </a:r>
            <a:endParaRPr lang="en-US" sz="1150" dirty="0"/>
          </a:p>
        </p:txBody>
      </p:sp>
      <p:sp>
        <p:nvSpPr>
          <p:cNvPr id="9" name="card Známé slabiny (nezakrývat)"/>
          <p:cNvSpPr/>
          <p:nvPr/>
        </p:nvSpPr>
        <p:spPr>
          <a:xfrm>
            <a:off x="7772400" y="3886200"/>
            <a:ext cx="3867912" cy="228600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402336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Známé slabiny (nezakrývat)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53128"/>
            <a:ext cx="3502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Ověřeno z výtahů, ne z plných textů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Dopady bez kontrolní skupiny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Ekonomika V3 na sazbě z 03/2022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Nejisté fakty o ČS (Moneyback, datum podmínek)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Rozpory se stopami: Allica 15 000 GBP, SLSP 1 %, datum ČS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ES, PL, AT jen akviziční; Indie, Brazílie, UOB, Amex Canada nehledány</a:t>
            </a:r>
            <a:endParaRPr lang="en-US" sz="1150" dirty="0"/>
          </a:p>
        </p:txBody>
      </p:sp>
      <p:sp>
        <p:nvSpPr>
          <p:cNvPr id="12" name="tag FACT"/>
          <p:cNvSpPr txBox="1"/>
          <p:nvPr/>
        </p:nvSpPr>
        <p:spPr>
          <a:xfrm>
            <a:off x="548640" y="5806440"/>
            <a:ext cx="868680" cy="237744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FACT</a:t>
            </a:r>
            <a:endParaRPr lang="en-US" sz="800" dirty="0"/>
          </a:p>
        </p:txBody>
      </p:sp>
      <p:sp>
        <p:nvSpPr>
          <p:cNvPr id="13" name="tag EST"/>
          <p:cNvSpPr txBox="1"/>
          <p:nvPr/>
        </p:nvSpPr>
        <p:spPr>
          <a:xfrm>
            <a:off x="1508760" y="5806440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EST</a:t>
            </a:r>
            <a:endParaRPr lang="en-US" sz="800" dirty="0"/>
          </a:p>
        </p:txBody>
      </p:sp>
      <p:sp>
        <p:nvSpPr>
          <p:cNvPr id="14" name="tag STALE"/>
          <p:cNvSpPr txBox="1"/>
          <p:nvPr/>
        </p:nvSpPr>
        <p:spPr>
          <a:xfrm>
            <a:off x="2468880" y="5806440"/>
            <a:ext cx="868680" cy="237744"/>
          </a:xfrm>
          <a:prstGeom prst="rect">
            <a:avLst/>
          </a:prstGeom>
          <a:solidFill>
            <a:srgbClr val="F4F1EC"/>
          </a:solidFill>
          <a:ln w="9525">
            <a:solidFill>
              <a:srgbClr val="6B6B6B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STALE</a:t>
            </a:r>
            <a:endParaRPr lang="en-US" sz="800" dirty="0"/>
          </a:p>
        </p:txBody>
      </p:sp>
      <p:sp>
        <p:nvSpPr>
          <p:cNvPr id="15" name="tag CLAIM"/>
          <p:cNvSpPr txBox="1"/>
          <p:nvPr/>
        </p:nvSpPr>
        <p:spPr>
          <a:xfrm>
            <a:off x="3429000" y="5806440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6B6B6B"/>
                </a:solidFill>
              </a:rPr>
              <a:t>CLAIM</a:t>
            </a:r>
            <a:endParaRPr lang="en-US" sz="800" dirty="0"/>
          </a:p>
        </p:txBody>
      </p:sp>
      <p:sp>
        <p:nvSpPr>
          <p:cNvPr id="16" name="tag DATA GAP"/>
          <p:cNvSpPr txBox="1"/>
          <p:nvPr/>
        </p:nvSpPr>
        <p:spPr>
          <a:xfrm>
            <a:off x="4389120" y="5806440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5121B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121B"/>
                </a:solidFill>
              </a:rPr>
              <a:t>DATA GAP</a:t>
            </a:r>
            <a:endParaRPr lang="en-US" sz="800" dirty="0"/>
          </a:p>
        </p:txBody>
      </p:sp>
      <p:sp>
        <p:nvSpPr>
          <p:cNvPr id="17" name="Text 0"/>
          <p:cNvSpPr/>
          <p:nvPr>
            <p:ph idx="102" type="body" hasCustomPrompt="1"/>
          </p:nvPr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BR SB Loyalty">
  <a:themeElements>
    <a:clrScheme name="HBR SB Loyalty">
      <a:dk1>
        <a:srgbClr val="111111"/>
      </a:dk1>
      <a:lt1>
        <a:srgbClr val="FFFFFF"/>
      </a:lt1>
      <a:dk2>
        <a:srgbClr val="6B6B6B"/>
      </a:dk2>
      <a:lt2>
        <a:srgbClr val="F4F1EC"/>
      </a:lt2>
      <a:accent1>
        <a:srgbClr val="B5121B"/>
      </a:accent1>
      <a:accent2>
        <a:srgbClr val="1F3A5F"/>
      </a:accent2>
      <a:accent3>
        <a:srgbClr val="4F6F5A"/>
      </a:accent3>
      <a:accent4>
        <a:srgbClr val="8A8A8A"/>
      </a:accent4>
      <a:accent5>
        <a:srgbClr val="D9D9D9"/>
      </a:accent5>
      <a:accent6>
        <a:srgbClr val="9A6B2F"/>
      </a:accent6>
      <a:hlink>
        <a:srgbClr val="B5121B"/>
      </a:hlink>
      <a:folHlink>
        <a:srgbClr val="6B6B6B"/>
      </a:folHlink>
    </a:clrScheme>
    <a:fontScheme name="HBR SB Loyal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Věrnostní programy pro podnikatele a firmy</dc:title>
  <dc:subject>PptxGenJS Presentation</dc:subject>
  <dc:creator>Research SB v2</dc:creator>
  <cp:lastModifiedBy>Research SB v2</cp:lastModifiedBy>
  <cp:revision>1</cp:revision>
  <dcterms:created xsi:type="dcterms:W3CDTF">2026-10-08T09:46:44Z</dcterms:created>
  <dcterms:modified xsi:type="dcterms:W3CDTF">2026-10-08T09:46:44Z</dcterms:modified>
</cp:coreProperties>
</file>